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9FE29-FF1C-40C8-AA4D-913B7FE4805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A964C-0B72-465C-BBD6-BD69243089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9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E:\MLSys_Research\paper\mlsys2026\figures\vector_redesign\fig5_block_granularity.svg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532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E:\MLSys_Research\paper\mlsys2026\figures\vector_redesign\fig1_capacity.svg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91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E:\MLSys_Research\paper\mlsys2026\figures\vector_redesign\fig2_gsm8k.svg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63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E:\MLSys_Research\paper\mlsys2026\figures\vector_redesign\fig3_ppl_ruler.svg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95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E:\MLSys_Research\paper\mlsys2026\figures\vector_redesign\fig7_harness.svg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0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E:\MLSys_Research\paper\mlsys2026\figures\vector_redesign\fig8_gsm8k_per_seed.svg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29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E:\MLSys_Research\paper\mlsys2026\figures\vector_redesign\fig6_sensitivity.svg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0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
- Internal verified experiment artifacts under E:\MLSys_Research\results.
- Vector source: E:\MLSys_Research\paper\mlsys2026\figures\vector_redesign\fig4_serving.svg
- Style references: https://proceedings.mlsys.org/paper_files/paper/2025/file/dbf02b21d77409a2db30e56866a8ab3a-Paper-Conference.pdf
- Style references: https://hanlab.mit.edu/projects/qserve
- Style references: https://proceedings.mlsys.org/paper_files/paper/2025/hash/26289c647c6828e862e271ca3c490486-Abstract-Conference.html
- Style references: https://proceedings.mlsys.org/paper_files/paper/2026/hash/8144a9d62e506af0fcdeac0e456b2710-Abstract-Conference.html
[/Sources]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A964C-0B72-465C-BBD6-BD69243089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89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20117-1E08-DD16-F876-A995E6C9F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DA8613-6FAB-EF60-F745-8B91B9BAF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17B33-02EB-F558-4BD3-1CDEBE2B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8D1AE-9593-9381-41F5-DF9834F0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FEF6D-9B4C-1B13-FDE2-F80EE7B8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23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8B46A-7ABA-4DD0-4FB0-7032B161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C965C-86C5-6791-F42D-A97047136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590A8-F2AC-6586-854D-1796A1EA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314ED-A764-6006-E68C-80E2645B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535749-E110-9640-1610-33780F36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04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210AF-CFE6-F0CF-1F51-A6CC11A8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A997A3-3CA6-7E47-71D2-87B65CD8D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316A-BFA8-678A-BEDA-B1816B56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6D944-8DD0-D901-2158-5A30B043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9BE8F-F6D2-5275-087A-66F9E471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44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5CAB9-4E44-6117-9ACC-21965AA2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F3EF7-B4E9-551D-C215-1868C9C9D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02991E-D3FB-ABB7-6B23-201E54893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AADC7E-5AB4-4AD4-7714-3BEB4503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2FBE5-C4D7-EB00-2E9C-558BB0CD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4ABC9-C70C-C98C-DCC6-C5469F67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24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DCF43-D597-BC45-D454-924829DB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4485A-F468-9402-2237-7164C56C8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3C96E4-15B2-6A95-498C-7EFDB4865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9E4841-2631-473E-8942-7940A7E19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2B3EB9-466C-4D8A-5BCA-54810F279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F7E677-365D-E844-D708-8B29E2DD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D80357-50ED-DA74-D186-BBC99F93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A730A0-4493-0E12-ED7F-64EF13A4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72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A04DB-2590-9D3B-EA6D-6756C0E2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77B2B1-0A8D-8B0C-739F-B9C9E622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21875B-D1A4-46D9-66AF-CDC79A61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DE1169-49B6-1EDF-17AE-3B1E18DD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12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7078D0-7115-94C5-B1AB-77A56A97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C086CF-BABB-839C-F5CB-DF5B6F2B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D0CCA6-B6E4-A8B9-4A79-327F5A6A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04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13A08-7AE3-412A-4040-53F4E15C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20275-3288-B10C-5F60-67ABA863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3EA861-B915-F92B-84B8-3D9ABF795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44E837-F2CD-987B-AC52-499B5A0C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DD7B60-50D3-4E41-3C21-8A2086F0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D908CB-E7F7-50C3-B664-DF773949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00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F0581-D77B-8EBE-718C-6B3129F0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0A75C3-4621-6253-2192-37A4C8563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ECF4B5-4F5A-6B31-7E62-3A3CFE031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4CE1A3-A8D8-65A4-5ED0-5FDFA666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3AC41A-D1E0-4720-1B26-858365DA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07DFE-1BEA-5919-74E8-E9D266E0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10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E5103-C90A-3367-8E82-A6BD3199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5D137-C54F-9DDC-4646-FEA040D4B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A4E8F-369B-7DC2-39B0-59545A99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D92A3-78C7-F09D-59AE-E1EFFD94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FEADB1-EF40-ABFA-30B3-FC1C3762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7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F28E56-8542-C634-587B-9918C1EBB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A8722E-3B5D-7D02-F0D4-EBDB81EF2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99C37-D3AF-F001-B894-85F6D6B3C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975B89-F918-FF15-2C94-9AD7E903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D7E80-DEA9-743D-E621-0CEADE59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6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8E4847-6050-456C-1B10-5A0EA111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ACDC37-623A-75BF-152E-D0E73468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CA7E6-5F04-EB19-EEEE-DC7360332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CB205-4AC3-43C2-9074-AAD1203812E7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154C5-765A-4211-BFED-AA194F0EC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89AE8-A50A-213E-C9F3-4149F3E74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A186C-9AD9-4868-985F-A250A3FD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80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51C84E-51AE-BA9F-9969-0FFAC3C2C064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594CF-7F8B-41DE-9CD5-DD6FADD73DEE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1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BFFC2E-90A7-5415-5F6C-7A68C2CB8696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Unit of precision assignment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098E4F-56AE-0E71-3FB3-4DC8F9F55E35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5_block_granularity">
            <a:extLst>
              <a:ext uri="{FF2B5EF4-FFF2-40B4-BE49-F238E27FC236}">
                <a16:creationId xmlns:a16="http://schemas.microsoft.com/office/drawing/2014/main" id="{24B4F451-C53F-A4F2-3CDC-061CEF7E9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727470"/>
            <a:ext cx="11506200" cy="39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2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B05298-977D-2AE9-29E8-D358460E4E1C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0DDCB4-ECC8-380F-C152-705D47F261F0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2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490035-467F-BADC-8AF0-BDB25CB16FBA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Joint KV-state capacity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ED169D-B8EE-A5BE-1AA7-4CD3B9DBF0B9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1_capacity">
            <a:extLst>
              <a:ext uri="{FF2B5EF4-FFF2-40B4-BE49-F238E27FC236}">
                <a16:creationId xmlns:a16="http://schemas.microsoft.com/office/drawing/2014/main" id="{27DACAD7-E5C0-D6FF-8CF5-5B6B82715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172076"/>
            <a:ext cx="11506200" cy="502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7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A1F96E-99B9-44B0-6F3B-EB869F4C9F12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11636D-24D3-9A20-244C-AAE834FD553B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3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619E67-AA5B-7075-2801-EA4DFCBA3B42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GSM8K paired quality delta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89E3FB-2A61-11D4-322F-B2C8EE02D970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2_gsm8k">
            <a:extLst>
              <a:ext uri="{FF2B5EF4-FFF2-40B4-BE49-F238E27FC236}">
                <a16:creationId xmlns:a16="http://schemas.microsoft.com/office/drawing/2014/main" id="{CF8F6F4E-2360-E399-2EB8-D401246FA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9801" y="736600"/>
            <a:ext cx="7912398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1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CFC6D8-4B98-AACE-1FAA-480A12FF2D19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198AD3-61CB-E361-708D-38808F7AB914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4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C2454-0019-7E1C-24B5-262A64C2866F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Perplexity and RULER quality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4C87F7-E270-4060-215F-B1299CD4766A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3_ppl_ruler">
            <a:extLst>
              <a:ext uri="{FF2B5EF4-FFF2-40B4-BE49-F238E27FC236}">
                <a16:creationId xmlns:a16="http://schemas.microsoft.com/office/drawing/2014/main" id="{36147CA4-6F67-34F3-7B56-FF4F2A8A4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331" y="736599"/>
            <a:ext cx="5495339" cy="589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6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47F4C4-AD3C-0472-8E65-E7D832A612B4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71EA90-82DD-1DAE-9908-0B80911DA45C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5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ED9144-6C48-7D0D-B5FC-DD7A8FA3A7AD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Evaluation harness isolation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259048-2583-90E9-B01C-6B210A0B1E9F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7_harness">
            <a:extLst>
              <a:ext uri="{FF2B5EF4-FFF2-40B4-BE49-F238E27FC236}">
                <a16:creationId xmlns:a16="http://schemas.microsoft.com/office/drawing/2014/main" id="{F43F07C1-6AC5-15B9-636B-53C3AFF95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5450" y="736600"/>
            <a:ext cx="62611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1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703194-CFA4-E721-0BF8-A9637EF6830C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31C60A-72AB-1E64-0A41-C4AF576400EA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6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6FBE39-2766-D414-8878-538CA6625E6D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GSM8K per-seed paired deltas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53A532-B18D-D90B-724F-CC585B543E02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8_gsm8k_per_seed">
            <a:extLst>
              <a:ext uri="{FF2B5EF4-FFF2-40B4-BE49-F238E27FC236}">
                <a16:creationId xmlns:a16="http://schemas.microsoft.com/office/drawing/2014/main" id="{003A9718-F184-F56D-DE46-BF5E438B6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095" y="736600"/>
            <a:ext cx="550581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4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DF66EC-A758-81CD-3309-E1B096864FD7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90AE18-EB22-EC47-DAA6-F1C2FE9A710F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7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8B806B-8EB3-99EF-7EB1-FF83E5E37CED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Layer-wise precision sensitivity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DD3591-E537-936C-552F-3D681D54D958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6_sensitivity">
            <a:extLst>
              <a:ext uri="{FF2B5EF4-FFF2-40B4-BE49-F238E27FC236}">
                <a16:creationId xmlns:a16="http://schemas.microsoft.com/office/drawing/2014/main" id="{51E90CB4-FF02-5BB1-0421-72D7B6B31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133025"/>
            <a:ext cx="11506200" cy="509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8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2D5E23-6938-BEAB-7A38-FAFB22A859CC}"/>
              </a:ext>
            </a:extLst>
          </p:cNvPr>
          <p:cNvSpPr/>
          <p:nvPr/>
        </p:nvSpPr>
        <p:spPr>
          <a:xfrm>
            <a:off x="342900" y="279400"/>
            <a:ext cx="63500" cy="279400"/>
          </a:xfrm>
          <a:prstGeom prst="rect">
            <a:avLst/>
          </a:prstGeom>
          <a:solidFill>
            <a:srgbClr val="233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7C1DF-12A2-48BD-0043-44C632A8AE55}"/>
              </a:ext>
            </a:extLst>
          </p:cNvPr>
          <p:cNvSpPr txBox="1"/>
          <p:nvPr/>
        </p:nvSpPr>
        <p:spPr>
          <a:xfrm>
            <a:off x="533400" y="279400"/>
            <a:ext cx="88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6B7580"/>
                </a:solidFill>
                <a:latin typeface="Arial" panose="020B0604020202020204" pitchFamily="34" charset="0"/>
              </a:rPr>
              <a:t>FIGURE 8</a:t>
            </a:r>
            <a:endParaRPr lang="zh-CN" altLang="en-US" sz="900" b="1">
              <a:solidFill>
                <a:srgbClr val="6B758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07FD1B-9ADC-AC4A-9E5A-4592D132DCDE}"/>
              </a:ext>
            </a:extLst>
          </p:cNvPr>
          <p:cNvSpPr txBox="1"/>
          <p:nvPr/>
        </p:nvSpPr>
        <p:spPr>
          <a:xfrm>
            <a:off x="1473200" y="2540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3364D"/>
                </a:solidFill>
                <a:latin typeface="Arial" panose="020B0604020202020204" pitchFamily="34" charset="0"/>
              </a:rPr>
              <a:t>Serving run-stability evidence</a:t>
            </a:r>
            <a:endParaRPr lang="zh-CN" altLang="en-US" sz="1300" b="1">
              <a:solidFill>
                <a:srgbClr val="23364D"/>
              </a:solidFill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8F58BC-8946-29F6-82AB-8BD7B690772D}"/>
              </a:ext>
            </a:extLst>
          </p:cNvPr>
          <p:cNvSpPr/>
          <p:nvPr/>
        </p:nvSpPr>
        <p:spPr>
          <a:xfrm>
            <a:off x="342900" y="622300"/>
            <a:ext cx="115062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fig4_serving">
            <a:extLst>
              <a:ext uri="{FF2B5EF4-FFF2-40B4-BE49-F238E27FC236}">
                <a16:creationId xmlns:a16="http://schemas.microsoft.com/office/drawing/2014/main" id="{BEE0D05F-5536-F9EE-C685-EE62302CEF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1395024"/>
            <a:ext cx="11506200" cy="45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02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自定义</PresentationFormat>
  <Paragraphs>32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俊熙 谭</dc:creator>
  <cp:lastModifiedBy>俊熙 谭</cp:lastModifiedBy>
  <cp:revision>1</cp:revision>
  <dcterms:created xsi:type="dcterms:W3CDTF">2026-08-10T10:48:22Z</dcterms:created>
  <dcterms:modified xsi:type="dcterms:W3CDTF">2026-08-10T10:48:22Z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2026-08-10T10:48:22Z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249f042c-2f39-42a4-9749-50df64a41ad5</vt:lpwstr>
  </property>
  <property fmtid="{D5CDD505-2E9C-101B-9397-08002B2CF9AE}" pid="7" name="MSIP_Label_defa4170-0d19-0005-0004-bc88714345d2_ActionId">
    <vt:lpwstr>e6dbb471-9ea9-4cf8-88cd-ca23c870a084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